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2FF"/>
                </a:solidFill>
              </a:defRPr>
            </a:pPr>
            <a:r>
              <a:t>スペシャルハンズオン</a:t>
            </a:r>
          </a:p>
          <a:p>
            <a:pPr algn="l">
              <a:spcBef>
                <a:spcPts val="1200"/>
              </a:spcBef>
              <a:defRPr sz="2800" b="0">
                <a:solidFill>
                  <a:srgbClr val="FFFFFF"/>
                </a:solidFill>
              </a:defRPr>
            </a:pPr>
            <a:r>
              <a:t>要件1枚からRAGシステムを構築・公開するまで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</a:p>
          <a:p>
            <a:pPr algn="l">
              <a:spcBef>
                <a:spcPts val="2400"/>
              </a:spcBef>
              <a:defRPr sz="2000" b="0">
                <a:solidFill>
                  <a:srgbClr val="CCCCCC"/>
                </a:solidFill>
              </a:defRPr>
            </a:pPr>
            <a:r>
              <a:t>目指せFDE！ ハーネスエンジニアリング入門  集大成</a:t>
            </a:r>
          </a:p>
          <a:p>
            <a:pPr algn="l">
              <a:spcBef>
                <a:spcPts val="800"/>
              </a:spcBef>
              <a:defRPr sz="1600" b="0">
                <a:solidFill>
                  <a:srgbClr val="FFE66D"/>
                </a:solidFill>
              </a:defRPr>
            </a:pPr>
            <a:r>
              <a:t>bonsai-8b-mlx × ChromaDB × FastAPI × ngrok × サブエージェント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このハンズオンの目的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E66D"/>
                </a:solidFill>
              </a:defRPr>
            </a:pPr>
            <a:r>
              <a:t>「動いた」ではなく「安全に出せると説明できる」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600"/>
              </a:spcBef>
              <a:defRPr sz="2200" b="0">
                <a:solidFill>
                  <a:srgbClr val="FFFFFF"/>
                </a:solidFill>
              </a:defRPr>
            </a:pPr>
            <a:r>
              <a:t>本講座で学んだ全7セクションの概念を総動員し、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FFFFFF"/>
                </a:solidFill>
              </a:defRPr>
            </a:pPr>
            <a:r>
              <a:t>講座PDF に対する RAG 質問応答システムを構築する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600"/>
              </a:spcBef>
              <a:defRPr sz="2000" b="0">
                <a:solidFill>
                  <a:srgbClr val="4ECB71"/>
                </a:solidFill>
              </a:defRPr>
            </a:pPr>
            <a:r>
              <a:t>✓ ローカルLLM（bonsai-8b-mlx）で完結 — APIキー不要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ECB71"/>
                </a:solidFill>
              </a:defRPr>
            </a:pPr>
            <a:r>
              <a:t>✓ 7つのサブエージェントが各セクションの概念を自動実行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ECB71"/>
                </a:solidFill>
              </a:defRPr>
            </a:pPr>
            <a:r>
              <a:t>✓ テスト・eval・監査・品質ゲートを全て通過してから公開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ECB71"/>
                </a:solidFill>
              </a:defRPr>
            </a:pPr>
            <a:r>
              <a:t>✓ ngrokで外部公開 → 本番はTailscale + Nginx で3層防御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完成アーキテクチャ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受講生が質問を入力</a:t>
            </a:r>
            <a:br/>
            <a:r>
              <a:t>      ↓</a:t>
            </a:r>
            <a:br/>
            <a:r>
              <a:t>  [ Web UI ]  ブラウザ (templates/index.html)</a:t>
            </a:r>
            <a:br/>
            <a:r>
              <a:t>      ↓ HTTPS</a:t>
            </a:r>
            <a:br/>
            <a:r>
              <a:t>  [ ngrok / Tailscale + Nginx ]  トンネル / 3層防御</a:t>
            </a:r>
            <a:br/>
            <a:r>
              <a:t>      ↓</a:t>
            </a:r>
            <a:br/>
            <a:r>
              <a:t>  [ FastAPI ]  server.py  — Bearer認証 + ログ記録</a:t>
            </a:r>
            <a:br/>
            <a:r>
              <a:t>      ↓</a:t>
            </a:r>
            <a:br/>
            <a:r>
              <a:t>  [ ChromaDB ]  retriever.py  — ベクトル検索 → 上位k件</a:t>
            </a:r>
            <a:br/>
            <a:r>
              <a:t>      ↓</a:t>
            </a:r>
            <a:br/>
            <a:r>
              <a:t>  [ bonsai-8b-mlx ]  generator.py  — 回答生成 + 参照ページ</a:t>
            </a:r>
            <a:br/>
            <a:r>
              <a:t>      ↓</a:t>
            </a:r>
            <a:br/>
            <a:r>
              <a:t>  JSON レスポンス { answer, sources 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E66D"/>
                </a:solidFill>
              </a:defRPr>
            </a:pPr>
            <a:r>
              <a:t>CLAUDE.md — AIの制御装置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Andrej Karpathy の4原則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1. Think Before Coding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 仮定を置くな。混乱を隠すな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2. Simplicity First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 問題を解く最小限のコード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3. Surgical Changes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 必要な箇所だけ触れ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4. Goal-Driven Execution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 成功基準を定義し、検証するまでループ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</a:defRPr>
            </a:pPr>
            <a:r>
              <a:t>+ ハーネス5本柱ルール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柱1: コンテキスト設計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 LLMに渡す情報を必要最小限に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柱2: 制約設計（フィードフォワード）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 実装前にreq.mdの受け入れ基準を確認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柱3: 検証ループ（フィードバック）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 失敗→修正→再実行を自動で回す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柱4: メモリ設計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 メタデータ付きチャンク管理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柱5: 可観測性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 全リクエストをJSON Linesでログ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</a:defRPr>
            </a:pPr>
            <a:r>
              <a:t>7つのサブエージェント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各セクションの概念を自動で実行するAIエージェント群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32720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  spec-writer  [Sec 2]  —  req.md → spec.md 変換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10332720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  constraint-designer  [Sec 3]  —  制約の設計・過不足検証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79"/>
            <a:ext cx="10332720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  stage-gate  [Sec 4]  —  計画→承認→実装の進行管理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59"/>
            <a:ext cx="10332720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  test-strategist  [Sec 5]  —  テスト戦略 + eval設計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332720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  auditor  [Sec 6]  —  コンフォーマンス監査 + ゲート判定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03520"/>
            <a:ext cx="10332720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  release-manager  [Sec 7]  —  リリース判定 + ngrok公開管理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943599"/>
            <a:ext cx="10332720" cy="5486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  metsukeyaku  [横断]  —  設計レビュー・批判的検査（目付け役）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B71"/>
                </a:solidFill>
              </a:defRPr>
            </a:pPr>
            <a:r>
              <a:t>開発フロー全体像 — 7フェーズ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828800" cy="5303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82880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6D"/>
                </a:solidFill>
              </a:defRPr>
            </a:pPr>
            <a:r>
              <a:t>環境構築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CLAUDE.md + エージェント配置 + Python環境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828800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D2FF"/>
                </a:solidFill>
              </a:defRPr>
            </a:pPr>
            <a:r>
              <a:t>Sec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87168"/>
            <a:ext cx="1828800" cy="5303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87168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6D"/>
                </a:solidFill>
              </a:defRPr>
            </a:pPr>
            <a:r>
              <a:t>要件→仕様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487168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req.md → spec.md（spec-writer）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48716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D2FF"/>
                </a:solidFill>
              </a:defRPr>
            </a:pPr>
            <a:r>
              <a:t>Sec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45536"/>
            <a:ext cx="1828800" cy="5303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45536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6D"/>
                </a:solidFill>
              </a:defRPr>
            </a:pPr>
            <a:r>
              <a:t>制約設計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145536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CLAUDE.md 制約検証（constraint-designer）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145536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D2FF"/>
                </a:solidFill>
              </a:defRPr>
            </a:pPr>
            <a:r>
              <a:t>Sec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03904"/>
            <a:ext cx="1828800" cy="5303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803904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6D"/>
                </a:solidFill>
              </a:defRPr>
            </a:pPr>
            <a:r>
              <a:t>段階実装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803904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5フェーズ12ステップ（stage-gate）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803904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D2FF"/>
                </a:solidFill>
              </a:defRPr>
            </a:pPr>
            <a:r>
              <a:t>Sec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62272"/>
            <a:ext cx="1828800" cy="5303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462272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6D"/>
                </a:solidFill>
              </a:defRPr>
            </a:pPr>
            <a:r>
              <a:t>テスト+eval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462272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3層テスト + eval 10問（test-strategist）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462272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D2FF"/>
                </a:solidFill>
              </a:defRPr>
            </a:pPr>
            <a:r>
              <a:t>Sec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20640"/>
            <a:ext cx="1828800" cy="530352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Phase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1206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6D"/>
                </a:solidFill>
              </a:defRPr>
            </a:pPr>
            <a:r>
              <a:t>監査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12064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コンフォーマンス監査 + ゲート判定（auditor）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120640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D2FF"/>
                </a:solidFill>
              </a:defRPr>
            </a:pPr>
            <a:r>
              <a:t>Sec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779008"/>
            <a:ext cx="1828800" cy="530352"/>
          </a:xfrm>
          <a:prstGeom prst="round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Phase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779008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E66D"/>
                </a:solidFill>
              </a:defRPr>
            </a:pPr>
            <a:r>
              <a:t>リリース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5779008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ngrok公開 + ロールバック確認（release-manager）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779008"/>
            <a:ext cx="1371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D2FF"/>
                </a:solidFill>
              </a:defRPr>
            </a:pPr>
            <a:r>
              <a:t>Sec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</a:defRPr>
            </a:pPr>
            <a:r>
              <a:t>テストメトリクス — 品質を数値で語る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テストカバレッジ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ユニットテスト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ingest / retriever / generator / server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→ 関数単位の正常系・異常系・境界値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結合テスト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RAGパイプライン全体 / API / 認証フロー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eval（振る舞い採点）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10問 × (セクション一致 + キーワード一致)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FF6B6B"/>
                </a:solidFill>
              </a:defRPr>
            </a:pPr>
            <a:r>
              <a:t>  ハルシネーション: -2点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4ECB71"/>
                </a:solidFill>
              </a:defRPr>
            </a:pPr>
            <a:r>
              <a:t>  80%以上でPASS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</a:defRPr>
            </a:pPr>
            <a:r>
              <a:t>バグ密度・品質メトリクス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M-1: テスト通過率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全テスト数 / 通過数 / 失敗数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M-2: eval スコア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獲得点 / 満点 × 100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M-3: コンフォーマンス適合率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MATCH / 全spec項目 × 100</a:t>
            </a:r>
          </a:p>
          <a:p>
            <a:pPr algn="l"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M-4: セキュリティチェック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  認証バイパス / 秘密情報漏洩 / パス漏洩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B71"/>
                </a:solidFill>
              </a:defRPr>
            </a:pPr>
            <a:r>
              <a:t>コミットフック — 自動品質チェック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66D"/>
                </a:solidFill>
              </a:defRPr>
            </a:pPr>
            <a:r>
              <a:t>コミット時に自動で lint・テスト・セキュリティチェックを実行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pre-commit フック設定例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#!/bin/bash</a:t>
            </a:r>
            <a:br/>
            <a:r>
              <a:t># .git/hooks/pre-commit</a:t>
            </a:r>
            <a:br/>
            <a:br/>
            <a:r>
              <a:t>echo "=== Running lint ==="</a:t>
            </a:r>
            <a:br/>
            <a:r>
              <a:t>ruff check src/ --fix || exit 1</a:t>
            </a:r>
            <a:br/>
            <a:br/>
            <a:r>
              <a:t>echo "=== Running type check ==="</a:t>
            </a:r>
            <a:br/>
            <a:r>
              <a:t>mypy src/ --ignore-missing-imports || exit 1</a:t>
            </a:r>
            <a:br/>
            <a:br/>
            <a:r>
              <a:t>echo "=== Running tests ==="</a:t>
            </a:r>
            <a:br/>
            <a:r>
              <a:t>python -m pytest tests/ -v --tb=short || exit 1</a:t>
            </a:r>
            <a:br/>
            <a:br/>
            <a:r>
              <a:t>echo "=== Security check: no hardcoded secrets ==="</a:t>
            </a:r>
            <a:br/>
            <a:r>
              <a:t>if grep -rn "API_TOKEN\s*=\s*['"]" src/; then</a:t>
            </a:r>
            <a:br/>
            <a:r>
              <a:t>    echo "ERROR: Hardcoded secret detected!" &amp;&amp; exit 1</a:t>
            </a:r>
            <a:br/>
            <a:r>
              <a:t>fi</a:t>
            </a:r>
            <a:br/>
            <a:br/>
            <a:r>
              <a:t>echo "=== All checks passed ==="</a:t>
            </a:r>
            <a:br/>
          </a:p>
        </p:txBody>
      </p:sp>
      <p:sp>
        <p:nvSpPr>
          <p:cNvPr id="7" name="TextBox 6"/>
          <p:cNvSpPr txBox="1"/>
          <p:nvPr/>
        </p:nvSpPr>
        <p:spPr>
          <a:xfrm>
            <a:off x="7132320" y="2926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なぜコミットフックか？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200"/>
              </a:spcBef>
              <a:defRPr sz="1800" b="1">
                <a:solidFill>
                  <a:srgbClr val="FFFFFF"/>
                </a:solidFill>
              </a:defRPr>
            </a:pPr>
            <a:r>
              <a:t>「壊れたコードを共有しない」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→ 問題を早期に発見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200"/>
              </a:spcBef>
              <a:defRPr sz="1800" b="1">
                <a:solidFill>
                  <a:srgbClr val="FFFFFF"/>
                </a:solidFill>
              </a:defRPr>
            </a:pPr>
            <a:r>
              <a:t>自動で検査する項目: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4ECB71"/>
                </a:solidFill>
              </a:defRPr>
            </a:pPr>
            <a:r>
              <a:t>  ✓ ruff — Pythonリンター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4ECB71"/>
                </a:solidFill>
              </a:defRPr>
            </a:pPr>
            <a:r>
              <a:t>  ✓ mypy — 型チェック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4ECB71"/>
                </a:solidFill>
              </a:defRPr>
            </a:pPr>
            <a:r>
              <a:t>  ✓ pytest — 全テスト実行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4ECB71"/>
                </a:solidFill>
              </a:defRPr>
            </a:pPr>
            <a:r>
              <a:t>  ✓ grep — 秘密情報の検出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200"/>
              </a:spcBef>
              <a:defRPr sz="1800" b="1">
                <a:solidFill>
                  <a:srgbClr val="FFE66D"/>
                </a:solidFill>
              </a:defRPr>
            </a:pPr>
            <a:r>
              <a:t>これがフィードフォワード（柱2）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= 問題が起きる前に止める仕組み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E66D"/>
                </a:solidFill>
              </a:defRPr>
            </a:pPr>
            <a:r>
              <a:t>ハーネス設計の全体像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AIエージェントそのものではなく、周囲の「制御装置」を設計する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                              ┌─────────────────────────────┐</a:t>
            </a:r>
            <a:br/>
            <a:r>
              <a:t>                              │     CLAUDE.md（制約設計）      │</a:t>
            </a:r>
            <a:br/>
            <a:r>
              <a:t>                              │   = フィードフォワード制御      │</a:t>
            </a:r>
            <a:br/>
            <a:r>
              <a:t>                              └──────────┬──────────────────┘</a:t>
            </a:r>
            <a:br/>
            <a:r>
              <a:t>                                         ↓</a:t>
            </a:r>
            <a:br/>
            <a:r>
              <a:t>  ┌──────────┐    req.md    ┌──────────────────┐    spec.md    ┌──────────┐</a:t>
            </a:r>
            <a:br/>
            <a:r>
              <a:t>  │  人間     │ ──────────→ │  AIエージェント    │ ──────────→ │  成果物   │</a:t>
            </a:r>
            <a:br/>
            <a:r>
              <a:t>  │ (判断者)  │ ←────────── │  (実行者)          │ ←────────── │  (コード) │</a:t>
            </a:r>
            <a:br/>
            <a:r>
              <a:t>  └──────────┘   承認/却下  └──────────────────┘    テスト結果  └──────────┘</a:t>
            </a:r>
            <a:br/>
            <a:r>
              <a:t>                                         ↑</a:t>
            </a:r>
            <a:br/>
            <a:r>
              <a:t>                              ┌──────────┴──────────────────┐</a:t>
            </a:r>
            <a:br/>
            <a:r>
              <a:t>                              │   テスト・eval・監査（検証）    │</a:t>
            </a:r>
            <a:br/>
            <a:r>
              <a:t>                              │   = フィードバック制御          │</a:t>
            </a:r>
            <a:br/>
            <a:r>
              <a:t>                              └─────────────────────────────┘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ポイント: AIが「何をするか」ではなく「何をしてはいけないか」を設計する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制約で解空間を絞り、検証で逸脱を検知し、人間が最終判断する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</a:defRPr>
            </a:pPr>
            <a:r>
              <a:t>品質ゲート — 5つのリリース条件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66D"/>
                </a:solidFill>
              </a:defRPr>
            </a:pPr>
            <a:r>
              <a:t>すべて通過しなければ ngrok 公開しない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1371600" cy="6400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Gate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94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全ユニットテスト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pytest tests/ -v → 全PASS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371600" cy="6400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Gate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0175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eval スコア 80% 以上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evals/run_eval.py → XX%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1371600" cy="6400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Gate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8404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コンフォーマンス差分ゼロ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840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spec.md vs 実装 → 全MATCH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371600" cy="6400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Gate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663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認証バイパス脆弱性ゼロ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63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curl -H なし → 403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486400"/>
            <a:ext cx="1371600" cy="6400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Gate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4864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目付け役レビュー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@metsukeyaku → PASS/CONDITIONAL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6B"/>
                </a:solidFill>
              </a:defRPr>
            </a:pPr>
            <a:r>
              <a:t>本番セキュリティ — 3層防御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66D"/>
                </a:solidFill>
              </a:defRPr>
            </a:pPr>
            <a:r>
              <a:t>ngrokは学習用。本番は多層防御で守る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8288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Layer 1</a:t>
            </a:r>
          </a:p>
          <a:p>
            <a:pPr algn="ctr">
              <a:defRPr sz="1400">
                <a:solidFill>
                  <a:srgbClr val="1A1A2E"/>
                </a:solidFill>
              </a:defRPr>
            </a:pPr>
            <a:r>
              <a:t>Tailscale VPN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WireGuard暗号化 + 認証済みデバイスのみ接続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メッシュVPNで設定が簡単、ゼロトラスト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1828800" cy="109728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Layer 2</a:t>
            </a:r>
          </a:p>
          <a:p>
            <a:pPr algn="ctr">
              <a:defRPr sz="1400">
                <a:solidFill>
                  <a:srgbClr val="1A1A2E"/>
                </a:solidFill>
              </a:defRPr>
            </a:pPr>
            <a:r>
              <a:t>Nginx / Apache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IPアドレス制限（100.64.0.0/10 Tailscale範囲）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Basic認証 + SSL/TLS 終端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029200"/>
            <a:ext cx="1828800" cy="1097280"/>
          </a:xfrm>
          <a:prstGeom prst="round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Layer 3</a:t>
            </a:r>
          </a:p>
          <a:p>
            <a:pPr algn="ctr">
              <a:defRPr sz="1400">
                <a:solidFill>
                  <a:srgbClr val="1A1A2E"/>
                </a:solidFill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029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Bearerトークン認証 + 全操作JSON Linesログ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CCCCC"/>
                </a:solidFill>
              </a:defRPr>
            </a:pPr>
            <a:r>
              <a:t>アプリケーション層の最終防衛線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ECB71"/>
                </a:solidFill>
              </a:defRPr>
            </a:pPr>
            <a:r>
              <a:t>FDE としての素養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66D"/>
                </a:solidFill>
              </a:defRPr>
            </a:pPr>
            <a:r>
              <a:t>Forward Deployed Engineer = Business × Technology × Creativity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91840" cy="22860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400" b="1">
                <a:solidFill>
                  <a:srgbClr val="00D2FF"/>
                </a:solidFill>
              </a:defRPr>
            </a:pPr>
            <a:r>
              <a:t>Business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要件を仕様に変換できる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「何を作るか」を定義し、優先順位をつける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3291840" cy="22860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400" b="1">
                <a:solidFill>
                  <a:srgbClr val="FFE66D"/>
                </a:solidFill>
              </a:defRPr>
            </a:pPr>
            <a:r>
              <a:t>Technology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段階的に実装し、テスト・監査で品質を担保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セキュリティ（3層防御）とインフラを理解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286000"/>
            <a:ext cx="3291840" cy="22860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Creativity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AIの制御装置を設計する（ハーネス設計）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「剥がせる設計」で変化に対応する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B71"/>
                </a:solidFill>
              </a:defRPr>
            </a:pPr>
            <a:r>
              <a:t>このハンズオンの成果物 = あなたのポートフォリオ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FFFFFF"/>
                </a:solidFill>
              </a:defRPr>
            </a:pPr>
            <a:r>
              <a:t>面接で「AIを安全に設計・運用できる」と証明する実績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FFE66D"/>
                </a:solidFill>
              </a:defRPr>
            </a:pPr>
            <a:r>
              <a:t>年収 700万〜1500万、求人成長率 +800% の FDE 市場へ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73152" cy="2743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D2FF"/>
                </a:solidFill>
              </a:defRPr>
            </a:pPr>
            <a:r>
              <a:t>要件1枚から、安全にリリースするまで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</a:defRPr>
            </a:pPr>
            <a:r>
              <a:t>1. 仕様を書き（spec-writer）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FFFFFF"/>
                </a:solidFill>
              </a:defRPr>
            </a:pPr>
            <a:r>
              <a:t>2. 制約を設計し（constraint-designer）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FFFFFF"/>
                </a:solidFill>
              </a:defRPr>
            </a:pPr>
            <a:r>
              <a:t>3. 段階的に実装し（stage-gate）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FFFFFF"/>
                </a:solidFill>
              </a:defRPr>
            </a:pPr>
            <a:r>
              <a:t>4. テストとevalで検証し（test-strategist）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FFFFFF"/>
                </a:solidFill>
              </a:defRPr>
            </a:pPr>
            <a:r>
              <a:t>5. 監査と品質ゲートで判断し（auditor）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FFFFFF"/>
                </a:solidFill>
              </a:defRPr>
            </a:pPr>
            <a:r>
              <a:t>6. ngrokで公開し（release-manager）</a:t>
            </a:r>
          </a:p>
          <a:p>
            <a:pPr algn="l">
              <a:spcBef>
                <a:spcPts val="800"/>
              </a:spcBef>
              <a:defRPr sz="2200" b="0">
                <a:solidFill>
                  <a:srgbClr val="FFFFFF"/>
                </a:solidFill>
              </a:defRPr>
            </a:pPr>
            <a:r>
              <a:t>7. 本番は3層防御で守る（Tailscale + Nginx + FastAPI）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600"/>
              </a:spcBef>
              <a:defRPr sz="2800" b="1">
                <a:solidFill>
                  <a:srgbClr val="FFE66D"/>
                </a:solidFill>
              </a:defRPr>
            </a:pPr>
            <a:r>
              <a:t>これが FDE としての完走です。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